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</p:sldMasterIdLst>
  <p:notesMasterIdLst>
    <p:notesMasterId r:id="rId14"/>
  </p:notesMasterIdLst>
  <p:handoutMasterIdLst>
    <p:handoutMasterId r:id="rId15"/>
  </p:handoutMasterIdLst>
  <p:sldIdLst>
    <p:sldId id="340" r:id="rId5"/>
    <p:sldId id="341" r:id="rId6"/>
    <p:sldId id="342" r:id="rId7"/>
    <p:sldId id="343" r:id="rId8"/>
    <p:sldId id="346" r:id="rId9"/>
    <p:sldId id="347" r:id="rId10"/>
    <p:sldId id="348" r:id="rId11"/>
    <p:sldId id="350" r:id="rId12"/>
    <p:sldId id="355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9E0B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1E171933-4619-4E11-9A3F-F7608DF75F80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 autoAdjust="0"/>
  </p:normalViewPr>
  <p:slideViewPr>
    <p:cSldViewPr snapToGrid="0">
      <p:cViewPr>
        <p:scale>
          <a:sx n="58" d="100"/>
          <a:sy n="58" d="100"/>
        </p:scale>
        <p:origin x="988" y="68"/>
      </p:cViewPr>
      <p:guideLst/>
    </p:cSldViewPr>
  </p:slideViewPr>
  <p:outlineViewPr>
    <p:cViewPr>
      <p:scale>
        <a:sx n="33" d="100"/>
        <a:sy n="33" d="100"/>
      </p:scale>
      <p:origin x="0" y="-11376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6264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482B951-AFFF-3499-FDE3-02A7F0BD15F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2E5896A-FCE2-110F-B202-A8E435372D6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E69F83-204D-4778-AAD0-A0F851A3AEEE}" type="datetimeFigureOut">
              <a:rPr lang="en-US" smtClean="0"/>
              <a:t>2/14/2026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1BFBA0-47AD-543A-6AE4-769D8F86580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8FC355-FEF6-ED8F-8D0E-F362E204A0F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669D59-B021-49CB-887D-52B8FEE1CE1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70690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AE3C21-C3CB-4B8D-9033-56C1B3CE75FA}" type="datetimeFigureOut">
              <a:rPr lang="en-US" smtClean="0"/>
              <a:t>2/14/2026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732C3C-A191-48C2-A7E8-9C96AF841A7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63942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732C3C-A191-48C2-A7E8-9C96AF841A7A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60483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732C3C-A191-48C2-A7E8-9C96AF841A7A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64802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732C3C-A191-48C2-A7E8-9C96AF841A7A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33993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732C3C-A191-48C2-A7E8-9C96AF841A7A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97939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732C3C-A191-48C2-A7E8-9C96AF841A7A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82815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732C3C-A191-48C2-A7E8-9C96AF841A7A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750603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732C3C-A191-48C2-A7E8-9C96AF841A7A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72313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732C3C-A191-48C2-A7E8-9C96AF841A7A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335578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732C3C-A191-48C2-A7E8-9C96AF841A7A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31185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raphic 14">
            <a:extLst>
              <a:ext uri="{FF2B5EF4-FFF2-40B4-BE49-F238E27FC236}">
                <a16:creationId xmlns:a16="http://schemas.microsoft.com/office/drawing/2014/main" id="{BECDFC6B-0742-962E-44A1-19C9C173BB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0848" y="425303"/>
            <a:ext cx="11305217" cy="6007394"/>
          </a:xfrm>
          <a:prstGeom prst="rect">
            <a:avLst/>
          </a:prstGeom>
          <a:effectLst/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0001" y="633046"/>
            <a:ext cx="10571998" cy="3366198"/>
          </a:xfrm>
          <a:ln>
            <a:noFill/>
          </a:ln>
          <a:effectLst/>
        </p:spPr>
        <p:txBody>
          <a:bodyPr/>
          <a:lstStyle>
            <a:lvl1pPr algn="ctr">
              <a:defRPr sz="7200" b="1" spc="-300" baseline="0">
                <a:ln>
                  <a:noFill/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2369852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Pr>
        <a:solidFill>
          <a:schemeClr val="accent4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2ADBC817-DA57-A518-5544-0D3B819C70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35935" y="414670"/>
            <a:ext cx="11320130" cy="601802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4873FFF3-C7B6-C678-1B03-17FBD0D5AC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46174" y="425303"/>
            <a:ext cx="5379242" cy="5983435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44217" y="924167"/>
            <a:ext cx="4383156" cy="5009322"/>
          </a:xfrm>
          <a:solidFill>
            <a:schemeClr val="accent1">
              <a:lumMod val="50000"/>
            </a:schemeClr>
          </a:solidFill>
          <a:effectLst>
            <a:outerShdw blurRad="254000" dist="50800" dir="2700000" algn="ctr" rotWithShape="0">
              <a:prstClr val="black">
                <a:alpha val="25000"/>
              </a:prstClr>
            </a:outerShdw>
          </a:effectLst>
        </p:spPr>
        <p:txBody>
          <a:bodyPr anchor="ctr"/>
          <a:lstStyle>
            <a:lvl1pPr algn="ctr">
              <a:defRPr sz="3600" spc="0" baseline="0"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D0FE23B-34E3-BAAF-E01D-BE221B4A94E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400800" y="924512"/>
            <a:ext cx="4750904" cy="5008977"/>
          </a:xfrm>
        </p:spPr>
        <p:txBody>
          <a:bodyPr/>
          <a:lstStyle>
            <a:lvl1pPr marL="0" indent="0">
              <a:buNone/>
              <a:defRPr/>
            </a:lvl1pPr>
            <a:lvl2pPr marL="742950" indent="-285750">
              <a:buFont typeface="Arial" panose="020B0604020202020204" pitchFamily="34" charset="0"/>
              <a:buChar char="•"/>
              <a:defRPr/>
            </a:lvl2pPr>
            <a:lvl3pPr marL="1200150" indent="-285750">
              <a:buFont typeface="Arial" panose="020B0604020202020204" pitchFamily="34" charset="0"/>
              <a:buChar char="•"/>
              <a:defRPr/>
            </a:lvl3pPr>
            <a:lvl4pPr marL="1543050" indent="-171450">
              <a:buFont typeface="Arial" panose="020B0604020202020204" pitchFamily="34" charset="0"/>
              <a:buChar char="•"/>
              <a:defRPr/>
            </a:lvl4pPr>
            <a:lvl5pPr marL="2000250" indent="-17145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7798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accent4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105E210-05B5-5EA1-C778-30BB3A4942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35935" y="419987"/>
            <a:ext cx="11320130" cy="601802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8792193-1165-3487-6FB9-133CB518CE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duotone>
              <a:prstClr val="black"/>
              <a:schemeClr val="accent1">
                <a:tint val="45000"/>
                <a:satMod val="400000"/>
              </a:schemeClr>
            </a:duotone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3090924" y="-2235006"/>
            <a:ext cx="6010147" cy="11320132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0001" y="1741064"/>
            <a:ext cx="10571998" cy="1928264"/>
          </a:xfrm>
          <a:ln>
            <a:noFill/>
          </a:ln>
          <a:effectLst/>
        </p:spPr>
        <p:txBody>
          <a:bodyPr/>
          <a:lstStyle>
            <a:lvl1pPr algn="ctr">
              <a:defRPr sz="3600" spc="0" baseline="0">
                <a:ln>
                  <a:noFill/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810000" y="3694102"/>
            <a:ext cx="10572000" cy="896468"/>
          </a:xfrm>
          <a:effectLst/>
        </p:spPr>
        <p:txBody>
          <a:bodyPr anchor="ctr">
            <a:normAutofit/>
          </a:bodyPr>
          <a:lstStyle>
            <a:lvl1pPr marL="0" indent="0" algn="ctr">
              <a:buNone/>
              <a:defRPr sz="1800" b="1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34800003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1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8905615-9FD2-EBB3-89AB-555B373EBB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23955" y="414670"/>
            <a:ext cx="7132110" cy="601802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2B638DB-3E00-7F4B-D4B7-9D7F090563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0459" y="420624"/>
            <a:ext cx="4183496" cy="6016752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10EED07-CDD5-9244-28FA-5195E67951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duotone>
              <a:prstClr val="black"/>
              <a:schemeClr val="accent1">
                <a:tint val="45000"/>
                <a:satMod val="400000"/>
              </a:schemeClr>
            </a:duotone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435934" y="422551"/>
            <a:ext cx="4183495" cy="6010146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717" y="924339"/>
            <a:ext cx="3990110" cy="5009322"/>
          </a:xfrm>
          <a:noFill/>
          <a:effectLst/>
        </p:spPr>
        <p:txBody>
          <a:bodyPr anchor="ctr"/>
          <a:lstStyle>
            <a:lvl1pPr algn="ctr">
              <a:defRPr sz="3600" spc="0" baseline="0"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9">
            <a:extLst>
              <a:ext uri="{FF2B5EF4-FFF2-40B4-BE49-F238E27FC236}">
                <a16:creationId xmlns:a16="http://schemas.microsoft.com/office/drawing/2014/main" id="{B5AB4E8D-8B32-8B00-8152-856C592BAB39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5346793" y="924340"/>
            <a:ext cx="5684373" cy="5009322"/>
          </a:xfrm>
          <a:effectLst/>
        </p:spPr>
        <p:txBody>
          <a:bodyPr lIns="0" rIns="0" anchor="ctr"/>
          <a:lstStyle>
            <a:lvl1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None/>
              <a:defRPr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defRPr>
            </a:lvl1pPr>
            <a:lvl2pPr marL="457200" indent="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None/>
              <a:defRPr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defRPr>
            </a:lvl2pPr>
            <a:lvl3pPr marL="914400" indent="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None/>
              <a:defRPr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defRPr>
            </a:lvl3pPr>
            <a:lvl4pPr marL="1371600" indent="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None/>
              <a:defRPr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defRPr>
            </a:lvl4pPr>
            <a:lvl5pPr marL="1828800" indent="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None/>
              <a:defRPr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376925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 3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F4A700F-42CA-D7A9-D709-C0017521B2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35935" y="414670"/>
            <a:ext cx="11320130" cy="6018027"/>
          </a:xfrm>
          <a:prstGeom prst="rect">
            <a:avLst/>
          </a:prstGeom>
          <a:solidFill>
            <a:srgbClr val="F9E0B9"/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961DA139-D8FD-A752-758D-4F836DFB25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-1353" t="-388" r="-1" b="-254"/>
          <a:stretch/>
        </p:blipFill>
        <p:spPr>
          <a:xfrm rot="16200000" flipH="1">
            <a:off x="210940" y="1589892"/>
            <a:ext cx="5245922" cy="3667583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85516" y="1433219"/>
            <a:ext cx="5695102" cy="2092049"/>
          </a:xfrm>
          <a:noFill/>
          <a:effectLst/>
        </p:spPr>
        <p:txBody>
          <a:bodyPr anchor="b"/>
          <a:lstStyle>
            <a:lvl1pPr algn="ctr">
              <a:defRPr sz="3600" spc="0" baseline="0">
                <a:solidFill>
                  <a:schemeClr val="accent1">
                    <a:lumMod val="50000"/>
                  </a:schemeClr>
                </a:solidFill>
                <a:effectLst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C96F37D4-7152-EA75-8D7D-D8F7D6DD9C4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350099" y="1974707"/>
            <a:ext cx="2907792" cy="2907792"/>
          </a:xfrm>
          <a:solidFill>
            <a:srgbClr val="F9E0B9"/>
          </a:solidFill>
          <a:effectLst/>
        </p:spPr>
        <p:txBody>
          <a:bodyPr anchor="t"/>
          <a:lstStyle>
            <a:lvl1pPr marL="0" indent="0" algn="ctr">
              <a:buNone/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Content Placeholder 9">
            <a:extLst>
              <a:ext uri="{FF2B5EF4-FFF2-40B4-BE49-F238E27FC236}">
                <a16:creationId xmlns:a16="http://schemas.microsoft.com/office/drawing/2014/main" id="{AFBE5B12-0D10-DA99-093A-2C4FB738B21C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5496789" y="3525268"/>
            <a:ext cx="5683829" cy="2595429"/>
          </a:xfrm>
          <a:effectLst/>
        </p:spPr>
        <p:txBody>
          <a:bodyPr anchor="t"/>
          <a:lstStyle>
            <a:lvl1pPr marL="0" indent="0" algn="ctr">
              <a:lnSpc>
                <a:spcPct val="150000"/>
              </a:lnSpc>
              <a:spcBef>
                <a:spcPts val="0"/>
              </a:spcBef>
              <a:buNone/>
              <a:defRPr b="1">
                <a:solidFill>
                  <a:schemeClr val="accent1">
                    <a:lumMod val="50000"/>
                  </a:schemeClr>
                </a:solidFill>
              </a:defRPr>
            </a:lvl1pPr>
            <a:lvl2pPr algn="ctr">
              <a:buClr>
                <a:schemeClr val="accent1">
                  <a:lumMod val="50000"/>
                </a:schemeClr>
              </a:buClr>
              <a:defRPr>
                <a:solidFill>
                  <a:schemeClr val="accent1">
                    <a:lumMod val="50000"/>
                  </a:schemeClr>
                </a:solidFill>
              </a:defRPr>
            </a:lvl2pPr>
            <a:lvl3pPr algn="ctr">
              <a:buClr>
                <a:schemeClr val="accent1">
                  <a:lumMod val="50000"/>
                </a:schemeClr>
              </a:buClr>
              <a:defRPr>
                <a:solidFill>
                  <a:schemeClr val="accent1">
                    <a:lumMod val="50000"/>
                  </a:schemeClr>
                </a:solidFill>
              </a:defRPr>
            </a:lvl3pPr>
            <a:lvl4pPr algn="ctr">
              <a:buClr>
                <a:schemeClr val="accent1">
                  <a:lumMod val="50000"/>
                </a:schemeClr>
              </a:buClr>
              <a:defRPr>
                <a:solidFill>
                  <a:schemeClr val="accent1">
                    <a:lumMod val="50000"/>
                  </a:schemeClr>
                </a:solidFill>
              </a:defRPr>
            </a:lvl4pPr>
            <a:lvl5pPr algn="ctr">
              <a:buClr>
                <a:schemeClr val="accent1">
                  <a:lumMod val="50000"/>
                </a:schemeClr>
              </a:buClr>
              <a:defRPr>
                <a:solidFill>
                  <a:schemeClr val="accent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799506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5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81D7C89-8451-1944-C2B3-53AADAC99A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11678" y="422551"/>
            <a:ext cx="4223822" cy="601014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26B15EB-5194-C74B-F881-D3DCBE8542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35499" y="422551"/>
            <a:ext cx="7144823" cy="6010146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9935" y="633845"/>
            <a:ext cx="3990110" cy="2192482"/>
          </a:xfrm>
          <a:noFill/>
          <a:effectLst/>
        </p:spPr>
        <p:txBody>
          <a:bodyPr anchor="ctr"/>
          <a:lstStyle>
            <a:lvl1pPr algn="ctr">
              <a:defRPr sz="3600" spc="0" baseline="0">
                <a:solidFill>
                  <a:schemeClr val="accent1">
                    <a:lumMod val="50000"/>
                  </a:schemeClr>
                </a:solidFill>
                <a:effectLst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15614EF-4CFA-2D69-0F78-9D7409E2337E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747423" y="3174531"/>
            <a:ext cx="3772622" cy="3122360"/>
          </a:xfrm>
          <a:effectLst/>
        </p:spPr>
        <p:txBody>
          <a:bodyPr rIns="274320" anchor="t"/>
          <a:lstStyle>
            <a:lvl1pPr marL="283464" indent="-283464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1pPr>
            <a:lvl2pPr marL="742950" indent="-28575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2pPr>
            <a:lvl3pPr marL="1143000" indent="-2286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3pPr>
            <a:lvl4pPr marL="1600200" indent="-2286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4pPr>
            <a:lvl5pPr marL="2057400" indent="-2286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77D6637B-A7C5-34FF-5B51-32392DAEABB2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5237732" y="946205"/>
            <a:ext cx="5971020" cy="5161655"/>
          </a:xfrm>
        </p:spPr>
        <p:txBody>
          <a:bodyPr/>
          <a:lstStyle/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316405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 2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13E625C-F0A4-564D-CEE2-6B3595CEB0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961889" y="0"/>
            <a:ext cx="6230111" cy="6858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7445" y="157637"/>
            <a:ext cx="4851694" cy="2190705"/>
          </a:xfrm>
          <a:noFill/>
          <a:effectLst/>
        </p:spPr>
        <p:txBody>
          <a:bodyPr anchor="b"/>
          <a:lstStyle>
            <a:lvl1pPr algn="l">
              <a:defRPr sz="3600" spc="0" baseline="0">
                <a:solidFill>
                  <a:schemeClr val="accent1">
                    <a:lumMod val="50000"/>
                  </a:schemeClr>
                </a:solidFill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B4D8C78-00C3-F3D7-17C3-F1667E463E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0999" y="422551"/>
            <a:ext cx="5124893" cy="601014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c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F13E61FD-F54A-5F86-FCED-3BD4C8AA42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-1353" t="-388" r="-1" b="-254"/>
          <a:stretch/>
        </p:blipFill>
        <p:spPr>
          <a:xfrm flipH="1">
            <a:off x="659106" y="3429000"/>
            <a:ext cx="4589830" cy="278041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9F0290F-2D31-F9FB-AD35-B76947AF14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236863" y="776532"/>
            <a:ext cx="3434316" cy="5018212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7347A5B6-0F99-C044-C209-F3190EEFA37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236663" y="776288"/>
            <a:ext cx="3433762" cy="5018087"/>
          </a:xfrm>
        </p:spPr>
        <p:txBody>
          <a:bodyPr anchor="t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Content Placeholder 9">
            <a:extLst>
              <a:ext uri="{FF2B5EF4-FFF2-40B4-BE49-F238E27FC236}">
                <a16:creationId xmlns:a16="http://schemas.microsoft.com/office/drawing/2014/main" id="{0E96890F-0832-5087-193F-70CF33DEE0A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592615" y="2505979"/>
            <a:ext cx="4837385" cy="3926717"/>
          </a:xfrm>
          <a:effectLst/>
        </p:spPr>
        <p:txBody>
          <a:bodyPr anchor="t"/>
          <a:lstStyle>
            <a:lvl1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None/>
              <a:defRPr>
                <a:solidFill>
                  <a:schemeClr val="accent1">
                    <a:lumMod val="50000"/>
                  </a:schemeClr>
                </a:solidFill>
              </a:defRPr>
            </a:lvl1pPr>
            <a:lvl2pPr marL="742950" indent="-28575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2pPr>
            <a:lvl3pPr marL="1143000" indent="-22860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3pPr>
            <a:lvl4pPr marL="1600200" indent="-22860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4pPr>
            <a:lvl5pPr marL="2057400" indent="-22860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5pPr>
          </a:lstStyle>
          <a:p>
            <a:pPr marL="285750" marR="0" lvl="0" indent="-28575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>
                  <a:lumMod val="50000"/>
                </a:schemeClr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366817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4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36DB3CB-355C-968A-7F5F-71E0350408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duotone>
              <a:prstClr val="black"/>
              <a:schemeClr val="accent1">
                <a:tint val="45000"/>
                <a:satMod val="400000"/>
              </a:schemeClr>
            </a:duotone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-2" y="0"/>
            <a:ext cx="12192001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281D7C89-8451-1944-C2B3-53AADAC99A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11678" y="422551"/>
            <a:ext cx="4223822" cy="601014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26B15EB-5194-C74B-F881-D3DCBE8542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35499" y="422551"/>
            <a:ext cx="7144823" cy="6010146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9935" y="924339"/>
            <a:ext cx="3990110" cy="5009322"/>
          </a:xfrm>
          <a:noFill/>
          <a:effectLst/>
        </p:spPr>
        <p:txBody>
          <a:bodyPr anchor="ctr"/>
          <a:lstStyle>
            <a:lvl1pPr algn="ctr">
              <a:defRPr sz="3600" spc="0" baseline="0">
                <a:solidFill>
                  <a:schemeClr val="accent1">
                    <a:lumMod val="50000"/>
                  </a:schemeClr>
                </a:solidFill>
                <a:effectLst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77D6637B-A7C5-34FF-5B51-32392DAEABB2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5153836" y="1371602"/>
            <a:ext cx="6177309" cy="1953489"/>
          </a:xfrm>
          <a:effectLst/>
        </p:spPr>
        <p:txBody>
          <a:bodyPr anchor="t"/>
          <a:lstStyle>
            <a:lvl1pPr marL="283464" indent="-283464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1pPr>
            <a:lvl2pPr marL="742950" indent="-2857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2pPr>
            <a:lvl3pPr marL="1143000" indent="-228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3pPr>
            <a:lvl4pPr marL="1600200" indent="-228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4pPr>
            <a:lvl5pPr marL="2057400" indent="-228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087279F-936E-0F41-B533-7990D668D7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153836" y="3446156"/>
            <a:ext cx="6177309" cy="0"/>
          </a:xfrm>
          <a:prstGeom prst="line">
            <a:avLst/>
          </a:prstGeom>
          <a:ln w="19050"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ontent Placeholder 9">
            <a:extLst>
              <a:ext uri="{FF2B5EF4-FFF2-40B4-BE49-F238E27FC236}">
                <a16:creationId xmlns:a16="http://schemas.microsoft.com/office/drawing/2014/main" id="{CDD03AA1-6D53-FEB1-9B22-57C1066DA33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53836" y="3745924"/>
            <a:ext cx="6177309" cy="2238918"/>
          </a:xfrm>
          <a:effectLst/>
        </p:spPr>
        <p:txBody>
          <a:bodyPr anchor="t"/>
          <a:lstStyle>
            <a:lvl1pPr marL="283464" indent="-283464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1pPr>
            <a:lvl2pPr marL="742950" indent="-2857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2pPr>
            <a:lvl3pPr marL="1143000" indent="-228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3pPr>
            <a:lvl4pPr marL="1600200" indent="-228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4pPr>
            <a:lvl5pPr marL="2057400" indent="-228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93711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2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59176A3-24B8-086B-739F-2B3DCE8BE0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duotone>
              <a:prstClr val="black"/>
              <a:schemeClr val="accent1">
                <a:tint val="45000"/>
                <a:satMod val="400000"/>
              </a:schemeClr>
            </a:duotone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2666999" y="-2654300"/>
            <a:ext cx="6858000" cy="12166601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A96EFAA-0851-646A-8758-C20243901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1000" y="422551"/>
            <a:ext cx="11424920" cy="6010146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0001" y="685800"/>
            <a:ext cx="10571998" cy="2983528"/>
          </a:xfrm>
          <a:effectLst/>
        </p:spPr>
        <p:txBody>
          <a:bodyPr/>
          <a:lstStyle>
            <a:lvl1pPr algn="ctr">
              <a:defRPr sz="3600" spc="0" baseline="0">
                <a:solidFill>
                  <a:schemeClr val="accent4">
                    <a:lumMod val="60000"/>
                    <a:lumOff val="40000"/>
                  </a:schemeClr>
                </a:solidFill>
                <a:effectLst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40234031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Table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812B799F-04B8-4A62-EB7D-F17311231B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56500" y="0"/>
            <a:ext cx="4635500" cy="6858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8F310BE-5861-E73D-5979-D11A971516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00270" y="487680"/>
            <a:ext cx="6482080" cy="590296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A12F5E6-EC22-5E10-94FB-5E546A7B91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duotone>
              <a:prstClr val="black"/>
              <a:schemeClr val="accent1">
                <a:tint val="45000"/>
                <a:satMod val="400000"/>
              </a:schemeClr>
            </a:duotone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495630" y="477518"/>
            <a:ext cx="6482079" cy="5913121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36952" y="477518"/>
            <a:ext cx="3829465" cy="2693887"/>
          </a:xfrm>
          <a:noFill/>
          <a:effectLst/>
        </p:spPr>
        <p:txBody>
          <a:bodyPr anchor="b"/>
          <a:lstStyle>
            <a:lvl1pPr algn="l">
              <a:defRPr sz="3600" spc="0" baseline="0">
                <a:solidFill>
                  <a:schemeClr val="accent1">
                    <a:lumMod val="50000"/>
                  </a:schemeClr>
                </a:solidFill>
                <a:effectLst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Table Placeholder 12">
            <a:extLst>
              <a:ext uri="{FF2B5EF4-FFF2-40B4-BE49-F238E27FC236}">
                <a16:creationId xmlns:a16="http://schemas.microsoft.com/office/drawing/2014/main" id="{14BBA88A-FAA8-CE13-2A76-BF8B014AE343}"/>
              </a:ext>
            </a:extLst>
          </p:cNvPr>
          <p:cNvSpPr>
            <a:spLocks noGrp="1"/>
          </p:cNvSpPr>
          <p:nvPr>
            <p:ph type="tbl" sz="quarter" idx="11"/>
          </p:nvPr>
        </p:nvSpPr>
        <p:spPr>
          <a:xfrm>
            <a:off x="952500" y="909638"/>
            <a:ext cx="5578475" cy="5038725"/>
          </a:xfrm>
        </p:spPr>
        <p:txBody>
          <a:bodyPr anchor="t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5" name="Content Placeholder 9">
            <a:extLst>
              <a:ext uri="{FF2B5EF4-FFF2-40B4-BE49-F238E27FC236}">
                <a16:creationId xmlns:a16="http://schemas.microsoft.com/office/drawing/2014/main" id="{0E96890F-0832-5087-193F-70CF33DEE0A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8036953" y="3449781"/>
            <a:ext cx="3829465" cy="2940860"/>
          </a:xfrm>
          <a:effectLst/>
        </p:spPr>
        <p:txBody>
          <a:bodyPr anchor="t"/>
          <a:lstStyle>
            <a:lvl1pPr marL="285750" indent="-28575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1pPr>
            <a:lvl2pPr marL="742950" indent="-28575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2pPr>
            <a:lvl3pPr marL="1143000" indent="-22860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3pPr>
            <a:lvl4pPr marL="1600200" indent="-22860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4pPr>
            <a:lvl5pPr marL="2057400" indent="-22860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128186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able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59176A3-24B8-086B-739F-2B3DCE8BE0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duotone>
              <a:prstClr val="black"/>
              <a:schemeClr val="accent1">
                <a:tint val="45000"/>
                <a:satMod val="400000"/>
              </a:schemeClr>
            </a:duotone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2666999" y="-2654300"/>
            <a:ext cx="6858000" cy="12166601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A96EFAA-0851-646A-8758-C20243901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1000" y="422551"/>
            <a:ext cx="11424920" cy="6010146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8373" y="571501"/>
            <a:ext cx="11139054" cy="1028699"/>
          </a:xfrm>
          <a:effectLst/>
        </p:spPr>
        <p:txBody>
          <a:bodyPr anchor="ctr"/>
          <a:lstStyle>
            <a:lvl1pPr algn="ctr">
              <a:defRPr sz="3600" spc="0" baseline="0"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Table Placeholder 10">
            <a:extLst>
              <a:ext uri="{FF2B5EF4-FFF2-40B4-BE49-F238E27FC236}">
                <a16:creationId xmlns:a16="http://schemas.microsoft.com/office/drawing/2014/main" id="{E10735F5-6B7D-348D-AC70-8BC10CB5F70A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838200" y="1860550"/>
            <a:ext cx="10515600" cy="4198938"/>
          </a:xfrm>
        </p:spPr>
        <p:txBody>
          <a:bodyPr anchor="t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26347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2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2FDAFCA1-BDD9-1108-8F95-E3FC1A7935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0800000">
            <a:off x="0" y="0"/>
            <a:ext cx="11532896" cy="6858000"/>
            <a:chOff x="659106" y="0"/>
            <a:chExt cx="11532896" cy="6858000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E4BFDB24-6BE4-2FC0-F772-DC1DE926E485}"/>
                </a:ext>
              </a:extLst>
            </p:cNvPr>
            <p:cNvSpPr/>
            <p:nvPr/>
          </p:nvSpPr>
          <p:spPr>
            <a:xfrm>
              <a:off x="5995086" y="0"/>
              <a:ext cx="6196916" cy="68580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  <a:effectLst>
              <a:outerShdw blurRad="254000" dist="50800" dir="2700000" algn="tl" rotWithShape="0">
                <a:prstClr val="black">
                  <a:alpha val="2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</p:txBody>
        </p:sp>
        <p:pic>
          <p:nvPicPr>
            <p:cNvPr id="4" name="Graphic 3">
              <a:extLst>
                <a:ext uri="{FF2B5EF4-FFF2-40B4-BE49-F238E27FC236}">
                  <a16:creationId xmlns:a16="http://schemas.microsoft.com/office/drawing/2014/main" id="{131EABEA-AB8A-5E4C-A6DD-8F32B70E90A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l="-1353" t="-388" r="-1" b="-254"/>
            <a:stretch/>
          </p:blipFill>
          <p:spPr>
            <a:xfrm flipH="1">
              <a:off x="659106" y="1956391"/>
              <a:ext cx="4878094" cy="2780414"/>
            </a:xfrm>
            <a:prstGeom prst="rect">
              <a:avLst/>
            </a:prstGeom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D2279AAC-0D81-D3CD-3F0F-E8CEE0F56D43}"/>
                </a:ext>
              </a:extLst>
            </p:cNvPr>
            <p:cNvSpPr/>
            <p:nvPr/>
          </p:nvSpPr>
          <p:spPr>
            <a:xfrm>
              <a:off x="1328303" y="776532"/>
              <a:ext cx="3434316" cy="5018212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</p:txBody>
        </p:sp>
      </p:grpSp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7542" y="132080"/>
            <a:ext cx="4928894" cy="6507711"/>
          </a:xfrm>
          <a:noFill/>
          <a:effectLst/>
        </p:spPr>
        <p:txBody>
          <a:bodyPr anchor="ctr"/>
          <a:lstStyle>
            <a:lvl1pPr algn="ctr">
              <a:defRPr sz="3600" spc="0" baseline="0">
                <a:solidFill>
                  <a:schemeClr val="accent1">
                    <a:lumMod val="50000"/>
                  </a:schemeClr>
                </a:solidFill>
                <a:effectLst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E0720B2D-C199-57FA-9453-DBFB607BA98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429500" y="992188"/>
            <a:ext cx="3425825" cy="5018087"/>
          </a:xfrm>
        </p:spPr>
        <p:txBody>
          <a:bodyPr anchor="t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985865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lumns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B11222B-29F6-BF2A-09DE-82F6596389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duotone>
              <a:prstClr val="black"/>
              <a:schemeClr val="accent1">
                <a:tint val="45000"/>
                <a:satMod val="400000"/>
              </a:schemeClr>
            </a:duotone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2666999" y="-2654300"/>
            <a:ext cx="6858000" cy="12166601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B035F993-EADB-1C5A-7158-41E510B706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1000" y="422551"/>
            <a:ext cx="11424920" cy="6010146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B12E34E-DBAF-BA5D-15D9-E69A055357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1000" y="1889759"/>
            <a:ext cx="11424920" cy="454293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9935" y="571499"/>
            <a:ext cx="11118274" cy="1154114"/>
          </a:xfrm>
          <a:noFill/>
          <a:effectLst/>
        </p:spPr>
        <p:txBody>
          <a:bodyPr anchor="ctr"/>
          <a:lstStyle>
            <a:lvl1pPr algn="ctr">
              <a:defRPr sz="3600" spc="0" baseline="0"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9">
            <a:extLst>
              <a:ext uri="{FF2B5EF4-FFF2-40B4-BE49-F238E27FC236}">
                <a16:creationId xmlns:a16="http://schemas.microsoft.com/office/drawing/2014/main" id="{0BF6A552-CE6A-3977-8507-74A1C4C4B5A0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841667" y="2461056"/>
            <a:ext cx="3626424" cy="3721535"/>
          </a:xfrm>
          <a:effectLst/>
        </p:spPr>
        <p:txBody>
          <a:bodyPr anchor="t">
            <a:normAutofit/>
          </a:bodyPr>
          <a:lstStyle>
            <a:lvl1pPr marL="285750" indent="-285750">
              <a:lnSpc>
                <a:spcPct val="120000"/>
              </a:lnSpc>
              <a:spcBef>
                <a:spcPts val="600"/>
              </a:spcBef>
              <a:spcAft>
                <a:spcPts val="120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 sz="1800">
                <a:solidFill>
                  <a:schemeClr val="accent1">
                    <a:lumMod val="50000"/>
                  </a:schemeClr>
                </a:solidFill>
              </a:defRPr>
            </a:lvl1pPr>
            <a:lvl2pPr marL="742950" indent="-285750">
              <a:lnSpc>
                <a:spcPct val="120000"/>
              </a:lnSpc>
              <a:spcAft>
                <a:spcPts val="120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 sz="1600">
                <a:solidFill>
                  <a:schemeClr val="accent1">
                    <a:lumMod val="50000"/>
                  </a:schemeClr>
                </a:solidFill>
              </a:defRPr>
            </a:lvl2pPr>
            <a:lvl3pPr marL="1143000" indent="-228600">
              <a:lnSpc>
                <a:spcPct val="120000"/>
              </a:lnSpc>
              <a:spcAft>
                <a:spcPts val="120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 sz="1400">
                <a:solidFill>
                  <a:schemeClr val="accent1">
                    <a:lumMod val="50000"/>
                  </a:schemeClr>
                </a:solidFill>
              </a:defRPr>
            </a:lvl3pPr>
            <a:lvl4pPr marL="1600200" indent="-228600">
              <a:lnSpc>
                <a:spcPct val="120000"/>
              </a:lnSpc>
              <a:spcAft>
                <a:spcPts val="120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 sz="1200">
                <a:solidFill>
                  <a:schemeClr val="accent1">
                    <a:lumMod val="50000"/>
                  </a:schemeClr>
                </a:solidFill>
              </a:defRPr>
            </a:lvl4pPr>
            <a:lvl5pPr marL="2057400" indent="-228600">
              <a:lnSpc>
                <a:spcPct val="120000"/>
              </a:lnSpc>
              <a:spcAft>
                <a:spcPts val="120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 sz="1200">
                <a:solidFill>
                  <a:schemeClr val="accent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9">
            <a:extLst>
              <a:ext uri="{FF2B5EF4-FFF2-40B4-BE49-F238E27FC236}">
                <a16:creationId xmlns:a16="http://schemas.microsoft.com/office/drawing/2014/main" id="{4C80689F-A123-F6D7-2AA8-9166317EF424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5995282" y="2440275"/>
            <a:ext cx="5164553" cy="3721534"/>
          </a:xfrm>
          <a:effectLst/>
        </p:spPr>
        <p:txBody>
          <a:bodyPr anchor="t">
            <a:normAutofit/>
          </a:bodyPr>
          <a:lstStyle>
            <a:lvl1pPr marL="342900" indent="-3429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accent1">
                  <a:lumMod val="50000"/>
                </a:schemeClr>
              </a:buClr>
              <a:buFont typeface="+mj-lt"/>
              <a:buAutoNum type="arabicPeriod"/>
              <a:defRPr sz="1800" b="1">
                <a:solidFill>
                  <a:schemeClr val="accent1">
                    <a:lumMod val="50000"/>
                  </a:schemeClr>
                </a:solidFill>
              </a:defRPr>
            </a:lvl1pPr>
            <a:lvl2pPr marL="347472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chemeClr val="accent1">
                  <a:lumMod val="50000"/>
                </a:schemeClr>
              </a:buClr>
              <a:buNone/>
              <a:defRPr sz="1800">
                <a:solidFill>
                  <a:schemeClr val="accent1">
                    <a:lumMod val="50000"/>
                  </a:schemeClr>
                </a:solidFill>
              </a:defRPr>
            </a:lvl2pPr>
            <a:lvl3pPr marL="914400" indent="0">
              <a:lnSpc>
                <a:spcPct val="120000"/>
              </a:lnSpc>
              <a:spcAft>
                <a:spcPts val="600"/>
              </a:spcAft>
              <a:buClr>
                <a:schemeClr val="accent1">
                  <a:lumMod val="50000"/>
                </a:schemeClr>
              </a:buClr>
              <a:buNone/>
              <a:defRPr sz="1800">
                <a:solidFill>
                  <a:schemeClr val="accent1">
                    <a:lumMod val="50000"/>
                  </a:schemeClr>
                </a:solidFill>
              </a:defRPr>
            </a:lvl3pPr>
            <a:lvl4pPr marL="1371600" indent="0">
              <a:lnSpc>
                <a:spcPct val="120000"/>
              </a:lnSpc>
              <a:spcAft>
                <a:spcPts val="600"/>
              </a:spcAft>
              <a:buClr>
                <a:schemeClr val="accent1">
                  <a:lumMod val="50000"/>
                </a:schemeClr>
              </a:buClr>
              <a:buNone/>
              <a:defRPr sz="1800">
                <a:solidFill>
                  <a:schemeClr val="accent1">
                    <a:lumMod val="50000"/>
                  </a:schemeClr>
                </a:solidFill>
              </a:defRPr>
            </a:lvl4pPr>
            <a:lvl5pPr marL="1828800" indent="0">
              <a:lnSpc>
                <a:spcPct val="120000"/>
              </a:lnSpc>
              <a:spcAft>
                <a:spcPts val="600"/>
              </a:spcAft>
              <a:buClr>
                <a:schemeClr val="accent1">
                  <a:lumMod val="50000"/>
                </a:schemeClr>
              </a:buClr>
              <a:buNone/>
              <a:defRPr sz="1800">
                <a:solidFill>
                  <a:schemeClr val="accent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1820218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AF4DCF8-BA15-AB79-2D14-040F5A063B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35935" y="414670"/>
            <a:ext cx="11320130" cy="601802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ED22DD7-291D-E347-8A4C-07E31E6813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duotone>
              <a:prstClr val="black"/>
              <a:schemeClr val="accent1">
                <a:tint val="45000"/>
                <a:satMod val="400000"/>
              </a:schemeClr>
            </a:duotone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3092299" y="-2231063"/>
            <a:ext cx="6007395" cy="11320129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0660" y="1017858"/>
            <a:ext cx="10650681" cy="2719255"/>
          </a:xfrm>
          <a:noFill/>
          <a:effectLst/>
        </p:spPr>
        <p:txBody>
          <a:bodyPr anchor="b"/>
          <a:lstStyle>
            <a:lvl1pPr algn="ctr">
              <a:defRPr sz="7200" spc="-300" baseline="0">
                <a:solidFill>
                  <a:schemeClr val="accent4">
                    <a:lumMod val="60000"/>
                    <a:lumOff val="40000"/>
                  </a:schemeClr>
                </a:solidFill>
                <a:effectLst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D0FE23B-34E3-BAAF-E01D-BE221B4A94E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70660" y="4042066"/>
            <a:ext cx="10650681" cy="2296843"/>
          </a:xfrm>
          <a:effectLst/>
        </p:spPr>
        <p:txBody>
          <a:bodyPr anchor="t"/>
          <a:lstStyle>
            <a:lvl1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32725080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effectLst/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86F7BD38-A805-4B2C-9BDF-D56E94387879}" type="datetime1">
              <a:rPr lang="en-US" smtClean="0"/>
              <a:t>2/14/2026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</p:spPr>
        <p:txBody>
          <a:bodyPr vert="horz" lIns="91440" tIns="45720" rIns="91440" bIns="10800" rtlCol="0" anchor="b"/>
          <a:lstStyle>
            <a:lvl1pPr algn="r">
              <a:defRPr sz="2000">
                <a:solidFill>
                  <a:schemeClr val="tx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86" r:id="rId1"/>
    <p:sldLayoutId id="2147483668" r:id="rId2"/>
    <p:sldLayoutId id="2147483669" r:id="rId3"/>
    <p:sldLayoutId id="2147483684" r:id="rId4"/>
    <p:sldLayoutId id="2147483672" r:id="rId5"/>
    <p:sldLayoutId id="2147483687" r:id="rId6"/>
    <p:sldLayoutId id="2147483671" r:id="rId7"/>
    <p:sldLayoutId id="2147483688" r:id="rId8"/>
    <p:sldLayoutId id="2147483689" r:id="rId9"/>
    <p:sldLayoutId id="2147483690" r:id="rId10"/>
    <p:sldLayoutId id="2147483691" r:id="rId11"/>
    <p:sldLayoutId id="2147483692" r:id="rId12"/>
    <p:sldLayoutId id="2147483693" r:id="rId13"/>
    <p:sldLayoutId id="2147483685" r:id="rId14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000" b="1" kern="1200" baseline="0">
          <a:ln>
            <a:noFill/>
          </a:ln>
          <a:solidFill>
            <a:srgbClr val="FEFEFE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4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A762A4-2E4B-23FB-9F8B-D54C0F90A0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001" y="1612760"/>
            <a:ext cx="10571998" cy="1935983"/>
          </a:xfrm>
        </p:spPr>
        <p:txBody>
          <a:bodyPr/>
          <a:lstStyle/>
          <a:p>
            <a:pPr lvl="0"/>
            <a:r>
              <a:rPr lang="en-GB" sz="3200" dirty="0"/>
              <a:t>Capstone Project: Designing </a:t>
            </a:r>
            <a:r>
              <a:rPr lang="en-GB" sz="3200" dirty="0" err="1"/>
              <a:t>RushMore</a:t>
            </a:r>
            <a:r>
              <a:rPr lang="en-GB" sz="3200" dirty="0"/>
              <a:t> Pizzeria's Enterprise Database System Reference Case Study: </a:t>
            </a:r>
            <a:r>
              <a:rPr lang="en-GB" sz="3200" dirty="0" err="1"/>
              <a:t>RushMore</a:t>
            </a:r>
            <a:r>
              <a:rPr lang="en-GB" sz="3200" dirty="0"/>
              <a:t> Pizza Delivery with Python</a:t>
            </a:r>
            <a:br>
              <a:rPr lang="en-GB" sz="3200" dirty="0"/>
            </a:br>
            <a:br>
              <a:rPr lang="en-GB" sz="3200" dirty="0"/>
            </a:br>
            <a:r>
              <a:rPr lang="en-GB" sz="3200" dirty="0"/>
              <a:t>Presented by Usani Eteng</a:t>
            </a:r>
            <a:endParaRPr lang="en-US" sz="3200" noProof="0" dirty="0"/>
          </a:p>
        </p:txBody>
      </p:sp>
    </p:spTree>
    <p:extLst>
      <p:ext uri="{BB962C8B-B14F-4D97-AF65-F5344CB8AC3E}">
        <p14:creationId xmlns:p14="http://schemas.microsoft.com/office/powerpoint/2010/main" val="4318358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A25282-EE8D-71BA-6317-EECFE33238D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78286" y="924512"/>
            <a:ext cx="5769428" cy="5008977"/>
          </a:xfrm>
        </p:spPr>
        <p:txBody>
          <a:bodyPr>
            <a:normAutofit/>
          </a:bodyPr>
          <a:lstStyle/>
          <a:p>
            <a:pPr lvl="0"/>
            <a:r>
              <a:rPr lang="en-GB" dirty="0"/>
              <a:t>Following the early success of its Python-based ordering tool, </a:t>
            </a:r>
            <a:r>
              <a:rPr lang="en-GB" dirty="0" err="1"/>
              <a:t>RushMore</a:t>
            </a:r>
            <a:r>
              <a:rPr lang="en-GB" dirty="0"/>
              <a:t> Pizzeria has expanded to multiple locations with a larger customer base and a more complex menu. However, the original JSON file system has become a major bottleneck—slow, difficult to query, vulnerable to data corruption, and unable to support multiple cashiers simultaneously. Management has rehired you as a Data Engineer and Database Administrator to design a scalable, cloud-based Relational Database Management System (RDBMS). Before migrating real customer data, you must build a proof-of-concept and populate it with over 10,000 rows of realistic, high-quality fake data to test performance, validate data types, and demonstrate analytics capabilities.</a:t>
            </a:r>
            <a:endParaRPr lang="en-US" noProof="0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87B1AE6-2A17-A328-AA77-2874647B6D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Overview</a:t>
            </a:r>
          </a:p>
        </p:txBody>
      </p:sp>
    </p:spTree>
    <p:extLst>
      <p:ext uri="{BB962C8B-B14F-4D97-AF65-F5344CB8AC3E}">
        <p14:creationId xmlns:p14="http://schemas.microsoft.com/office/powerpoint/2010/main" val="9099247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8CF8F5-609D-E31E-6659-2E3CE63097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9999" y="705478"/>
            <a:ext cx="10571998" cy="770782"/>
          </a:xfrm>
        </p:spPr>
        <p:txBody>
          <a:bodyPr/>
          <a:lstStyle/>
          <a:p>
            <a:pPr lvl="0"/>
            <a:r>
              <a:rPr lang="en-US" noProof="0" dirty="0"/>
              <a:t>Objectives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F16AEF-ABBB-D2DD-A297-5819AEB9AF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4405" y="1839817"/>
            <a:ext cx="11413475" cy="3734718"/>
          </a:xfrm>
        </p:spPr>
        <p:txBody>
          <a:bodyPr>
            <a:normAutofit/>
          </a:bodyPr>
          <a:lstStyle/>
          <a:p>
            <a:pPr lvl="0"/>
            <a:r>
              <a:rPr lang="en-GB" dirty="0"/>
              <a:t>The objective is to design, deploy, and populate a production-ready PostgreSQL database in the cloud. I will model </a:t>
            </a:r>
            <a:r>
              <a:rPr lang="en-GB" dirty="0" err="1"/>
              <a:t>RushMore</a:t>
            </a:r>
            <a:r>
              <a:rPr lang="en-GB" dirty="0"/>
              <a:t> Pizzeria’s operations by creating a normalized, scalable relational schema, then deploy and configure a Database as a Service (DBaaS) on Azure or Google Cloud Platform. Using Python, </a:t>
            </a:r>
            <a:r>
              <a:rPr lang="en-GB" dirty="0" err="1"/>
              <a:t>i</a:t>
            </a:r>
            <a:r>
              <a:rPr lang="en-GB" dirty="0"/>
              <a:t> will connect to the remote database, generate realistic synthetic data with Faker, and insert it in the correct relational order. The project evaluates your skills in data </a:t>
            </a:r>
            <a:r>
              <a:rPr lang="en-GB" dirty="0" err="1"/>
              <a:t>modeling</a:t>
            </a:r>
            <a:r>
              <a:rPr lang="en-GB" dirty="0"/>
              <a:t>, cloud deployment, and database programming. Optionally, you may connect an analytics tool to the database to generate insights and answer key business questions.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1739363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8ECDD0-17F6-3312-AE6D-F7EB95E46C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717" y="924339"/>
            <a:ext cx="3990110" cy="5009322"/>
          </a:xfrm>
        </p:spPr>
        <p:txBody>
          <a:bodyPr/>
          <a:lstStyle/>
          <a:p>
            <a:r>
              <a:rPr lang="en-GB" dirty="0"/>
              <a:t>PART 1 — Database Modelling (Design)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45E4F9E-3A1E-4292-BD01-B957A53A6AE8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3"/>
          <a:stretch>
            <a:fillRect/>
          </a:stretch>
        </p:blipFill>
        <p:spPr>
          <a:xfrm>
            <a:off x="4759287" y="429659"/>
            <a:ext cx="6984693" cy="5905040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9590765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707FBB55-EF55-03D8-7D3C-29341A40D6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935" y="633845"/>
            <a:ext cx="3990110" cy="2192482"/>
          </a:xfrm>
        </p:spPr>
        <p:txBody>
          <a:bodyPr/>
          <a:lstStyle/>
          <a:p>
            <a:r>
              <a:rPr lang="en-GB" dirty="0"/>
              <a:t>SQL SCHEMA (CREATE TABLES)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D6AD7D9-DEA3-79A4-785F-0EA945171020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747423" y="3174531"/>
            <a:ext cx="3772622" cy="3122360"/>
          </a:xfrm>
        </p:spPr>
        <p:txBody>
          <a:bodyPr/>
          <a:lstStyle/>
          <a:p>
            <a:pPr lvl="0"/>
            <a:r>
              <a:rPr lang="en-US" noProof="0" dirty="0"/>
              <a:t>A few </a:t>
            </a:r>
            <a:r>
              <a:rPr lang="en-US" noProof="0" dirty="0" err="1"/>
              <a:t>sql</a:t>
            </a:r>
            <a:r>
              <a:rPr lang="en-US" noProof="0" dirty="0"/>
              <a:t> scheme will be represented here for the purpose of this presentation as the table was normalized to 3N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880C0D-D582-6869-8E22-EF330B627DBA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737254" y="848299"/>
            <a:ext cx="7039778" cy="5259561"/>
          </a:xfrm>
        </p:spPr>
        <p:txBody>
          <a:bodyPr>
            <a:normAutofit fontScale="85000" lnSpcReduction="20000"/>
          </a:bodyPr>
          <a:lstStyle/>
          <a:p>
            <a:r>
              <a:rPr lang="en-GB" dirty="0"/>
              <a:t>CREATE TABLE Stores (</a:t>
            </a:r>
          </a:p>
          <a:p>
            <a:r>
              <a:rPr lang="en-GB" dirty="0"/>
              <a:t>    </a:t>
            </a:r>
            <a:r>
              <a:rPr lang="en-GB" dirty="0" err="1"/>
              <a:t>store_id</a:t>
            </a:r>
            <a:r>
              <a:rPr lang="en-GB" dirty="0"/>
              <a:t> SERIAL PRIMARY KEY,</a:t>
            </a:r>
          </a:p>
          <a:p>
            <a:r>
              <a:rPr lang="en-GB" dirty="0"/>
              <a:t>    address VARCHAR(255) NOT NULL,</a:t>
            </a:r>
          </a:p>
          <a:p>
            <a:r>
              <a:rPr lang="en-GB" dirty="0"/>
              <a:t>    city VARCHAR(100) NOT NULL,</a:t>
            </a:r>
          </a:p>
          <a:p>
            <a:r>
              <a:rPr lang="en-GB" dirty="0"/>
              <a:t>    </a:t>
            </a:r>
            <a:r>
              <a:rPr lang="en-GB" dirty="0" err="1"/>
              <a:t>phone_number</a:t>
            </a:r>
            <a:r>
              <a:rPr lang="en-GB" dirty="0"/>
              <a:t> VARCHAR(20) UNIQUE NOT NULL,</a:t>
            </a:r>
          </a:p>
          <a:p>
            <a:r>
              <a:rPr lang="en-GB" dirty="0"/>
              <a:t>    </a:t>
            </a:r>
            <a:r>
              <a:rPr lang="en-GB" dirty="0" err="1"/>
              <a:t>opened_at</a:t>
            </a:r>
            <a:r>
              <a:rPr lang="en-GB" dirty="0"/>
              <a:t> TIMESTAMP DEFAULT CURRENT_TIMESTAMP</a:t>
            </a:r>
          </a:p>
          <a:p>
            <a:r>
              <a:rPr lang="en-GB" dirty="0"/>
              <a:t>);</a:t>
            </a:r>
          </a:p>
          <a:p>
            <a:endParaRPr lang="en-GB" dirty="0"/>
          </a:p>
          <a:p>
            <a:r>
              <a:rPr lang="en-GB" dirty="0"/>
              <a:t>CREATE TABLE Customers (</a:t>
            </a:r>
          </a:p>
          <a:p>
            <a:r>
              <a:rPr lang="en-GB" dirty="0"/>
              <a:t>    </a:t>
            </a:r>
            <a:r>
              <a:rPr lang="en-GB" dirty="0" err="1"/>
              <a:t>customer_id</a:t>
            </a:r>
            <a:r>
              <a:rPr lang="en-GB" dirty="0"/>
              <a:t> SERIAL PRIMARY KEY,</a:t>
            </a:r>
          </a:p>
          <a:p>
            <a:r>
              <a:rPr lang="en-GB" dirty="0"/>
              <a:t>    </a:t>
            </a:r>
            <a:r>
              <a:rPr lang="en-GB" dirty="0" err="1"/>
              <a:t>first_name</a:t>
            </a:r>
            <a:r>
              <a:rPr lang="en-GB" dirty="0"/>
              <a:t> VARCHAR(100) NOT NULL,</a:t>
            </a:r>
          </a:p>
          <a:p>
            <a:r>
              <a:rPr lang="en-GB" dirty="0"/>
              <a:t>    </a:t>
            </a:r>
            <a:r>
              <a:rPr lang="en-GB" dirty="0" err="1"/>
              <a:t>last_name</a:t>
            </a:r>
            <a:r>
              <a:rPr lang="en-GB" dirty="0"/>
              <a:t> VARCHAR(100) NOT NULL,</a:t>
            </a:r>
          </a:p>
          <a:p>
            <a:r>
              <a:rPr lang="en-GB" dirty="0"/>
              <a:t>    email VARCHAR(255) UNIQUE NOT NULL,</a:t>
            </a:r>
          </a:p>
          <a:p>
            <a:r>
              <a:rPr lang="en-GB" dirty="0"/>
              <a:t>    </a:t>
            </a:r>
            <a:r>
              <a:rPr lang="en-GB" dirty="0" err="1"/>
              <a:t>phone_number</a:t>
            </a:r>
            <a:r>
              <a:rPr lang="en-GB" dirty="0"/>
              <a:t> VARCHAR(20) UNIQUE NOT NULL,</a:t>
            </a:r>
          </a:p>
          <a:p>
            <a:r>
              <a:rPr lang="en-GB" dirty="0"/>
              <a:t>    </a:t>
            </a:r>
            <a:r>
              <a:rPr lang="en-GB" dirty="0" err="1"/>
              <a:t>created_at</a:t>
            </a:r>
            <a:r>
              <a:rPr lang="en-GB" dirty="0"/>
              <a:t> TIMESTAMP DEFAULT CURRENT_TIMESTAMP</a:t>
            </a:r>
          </a:p>
          <a:p>
            <a:r>
              <a:rPr lang="en-GB" dirty="0"/>
              <a:t>);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044347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C28204-2C6C-CA2B-7ACE-709BD219E7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96634" y="352540"/>
            <a:ext cx="5629619" cy="2116945"/>
          </a:xfrm>
        </p:spPr>
        <p:txBody>
          <a:bodyPr/>
          <a:lstStyle/>
          <a:p>
            <a:r>
              <a:rPr lang="en-GB" sz="2400" dirty="0"/>
              <a:t>PART 2 — Cloud Deployment (Azure or GCP)</a:t>
            </a:r>
            <a:r>
              <a:rPr lang="en-US" sz="2400" dirty="0"/>
              <a:t>ng strategies</a:t>
            </a:r>
            <a:br>
              <a:rPr lang="en-US" sz="2400" dirty="0"/>
            </a:br>
            <a:r>
              <a:rPr lang="en-US" sz="2400" dirty="0"/>
              <a:t>I choose azure since it was widely used in my location. And the </a:t>
            </a:r>
            <a:br>
              <a:rPr lang="en-US" sz="2400" dirty="0"/>
            </a:br>
            <a:r>
              <a:rPr lang="en-GB" sz="2400" dirty="0"/>
              <a:t>Step 3: Connect using </a:t>
            </a:r>
            <a:r>
              <a:rPr lang="en-GB" sz="2400" dirty="0" err="1"/>
              <a:t>pgAdmin</a:t>
            </a:r>
            <a:endParaRPr lang="en-US" sz="2400" dirty="0"/>
          </a:p>
        </p:txBody>
      </p:sp>
      <p:pic>
        <p:nvPicPr>
          <p:cNvPr id="19" name="Picture Placeholder 18">
            <a:extLst>
              <a:ext uri="{FF2B5EF4-FFF2-40B4-BE49-F238E27FC236}">
                <a16:creationId xmlns:a16="http://schemas.microsoft.com/office/drawing/2014/main" id="{C9C7069E-8095-250E-5EC8-5FE8BAC18F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 rotWithShape="1">
          <a:blip r:embed="rId3" cstate="screen">
            <a:duotone>
              <a:prstClr val="black"/>
              <a:schemeClr val="accent1">
                <a:tint val="45000"/>
                <a:satMod val="400000"/>
              </a:schemeClr>
            </a:duotone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4" b="14"/>
          <a:stretch/>
        </p:blipFill>
        <p:spPr>
          <a:xfrm>
            <a:off x="1236663" y="776288"/>
            <a:ext cx="3433762" cy="5018087"/>
          </a:xfrm>
        </p:spPr>
      </p:pic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E92CD962-75F2-E193-33AD-53AA422AD860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4"/>
          <a:stretch>
            <a:fillRect/>
          </a:stretch>
        </p:blipFill>
        <p:spPr>
          <a:xfrm>
            <a:off x="6868209" y="2532757"/>
            <a:ext cx="4286470" cy="3873699"/>
          </a:xfrm>
          <a:prstGeom prst="rect">
            <a:avLst/>
          </a:prstGeom>
          <a:effectLst/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80F330F-B412-3903-DF61-34C03FD38A5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743" y="440676"/>
            <a:ext cx="5114644" cy="5992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44137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DC59774-991F-EF6B-A0E1-E9121C2A70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10A74DF-A302-DEC2-5D92-C41212F928A9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B08C09C4-3D85-48F2-FCE5-0A0681D180C7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178021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B56AB58-3659-BF69-6020-E7A555E8C9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221476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05011-03FC-652B-2538-4EAE68ABF8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0660" y="1017858"/>
            <a:ext cx="10650681" cy="2719255"/>
          </a:xfrm>
        </p:spPr>
        <p:txBody>
          <a:bodyPr/>
          <a:lstStyle/>
          <a:p>
            <a:pPr lvl="0"/>
            <a:r>
              <a:rPr lang="en-US" dirty="0"/>
              <a:t>Thank You</a:t>
            </a:r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1A2349-EF0B-F33D-13F9-82624146164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70660" y="4042066"/>
            <a:ext cx="10650681" cy="2296843"/>
          </a:xfrm>
        </p:spPr>
        <p:txBody>
          <a:bodyPr/>
          <a:lstStyle/>
          <a:p>
            <a:pPr lvl="0"/>
            <a:r>
              <a:rPr lang="en-US" dirty="0"/>
              <a:t>USANI ETENG</a:t>
            </a:r>
          </a:p>
          <a:p>
            <a:pPr lvl="0"/>
            <a:r>
              <a:rPr lang="en-US" dirty="0"/>
              <a:t>DATA ENG. </a:t>
            </a:r>
            <a:endParaRPr lang="en-US" noProof="0" dirty="0"/>
          </a:p>
          <a:p>
            <a:pPr lvl="0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6365792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Quotable">
  <a:themeElements>
    <a:clrScheme name="Quotable">
      <a:dk1>
        <a:sysClr val="windowText" lastClr="000000"/>
      </a:dk1>
      <a:lt1>
        <a:sysClr val="window" lastClr="FFFFFF"/>
      </a:lt1>
      <a:dk2>
        <a:srgbClr val="212121"/>
      </a:dk2>
      <a:lt2>
        <a:srgbClr val="636363"/>
      </a:lt2>
      <a:accent1>
        <a:srgbClr val="00C6BB"/>
      </a:accent1>
      <a:accent2>
        <a:srgbClr val="6FEBA0"/>
      </a:accent2>
      <a:accent3>
        <a:srgbClr val="B6DF5E"/>
      </a:accent3>
      <a:accent4>
        <a:srgbClr val="EFB251"/>
      </a:accent4>
      <a:accent5>
        <a:srgbClr val="EF755F"/>
      </a:accent5>
      <a:accent6>
        <a:srgbClr val="ED515C"/>
      </a:accent6>
      <a:hlink>
        <a:srgbClr val="8F8F8F"/>
      </a:hlink>
      <a:folHlink>
        <a:srgbClr val="A5A5A5"/>
      </a:folHlink>
    </a:clrScheme>
    <a:fontScheme name="Quotabl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Quotabl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8000"/>
                <a:lumMod val="102000"/>
              </a:schemeClr>
              <a:schemeClr val="phClr">
                <a:shade val="98000"/>
                <a:lumMod val="98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635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90000"/>
                <a:satMod val="120000"/>
                <a:lumMod val="90000"/>
              </a:schemeClr>
            </a:gs>
            <a:gs pos="100000">
              <a:schemeClr val="phClr"/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11381587_Win32_SL_v6" id="{5005B820-A0B7-49EA-8569-DCF0CD2DBB9D}" vid="{2E48C80D-E25D-44C4-BCFD-F1465E9B612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4ACCF44-01D5-4C40-9EAC-D3C3683409FE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F29F0C84-2C14-4FB8-88C2-9577181F2CC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72B3831-C4F2-498C-8E5F-F8D6F905483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{0B38BF1F-2CC6-4C6C-AB8C-F9B4A2AA656B}TF4e23ad37-c1a6-42e6-a6ec-6518d97eca9ec3cad5d6_win32-e4fb00466b0d</Template>
  <TotalTime>469</TotalTime>
  <Words>465</Words>
  <Application>Microsoft Office PowerPoint</Application>
  <PresentationFormat>Widescreen</PresentationFormat>
  <Paragraphs>38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Aptos</vt:lpstr>
      <vt:lpstr>Arial</vt:lpstr>
      <vt:lpstr>Calibri</vt:lpstr>
      <vt:lpstr>Century Gothic</vt:lpstr>
      <vt:lpstr>Wingdings 2</vt:lpstr>
      <vt:lpstr>Quotable</vt:lpstr>
      <vt:lpstr>Capstone Project: Designing RushMore Pizzeria's Enterprise Database System Reference Case Study: RushMore Pizza Delivery with Python  Presented by Usani Eteng</vt:lpstr>
      <vt:lpstr>Overview</vt:lpstr>
      <vt:lpstr>Objectives</vt:lpstr>
      <vt:lpstr>PART 1 — Database Modelling (Design)</vt:lpstr>
      <vt:lpstr>SQL SCHEMA (CREATE TABLES)</vt:lpstr>
      <vt:lpstr>PART 2 — Cloud Deployment (Azure or GCP)ng strategies I choose azure since it was widely used in my location. And the  Step 3: Connect using pgAdmin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Usani Eteng</dc:creator>
  <cp:lastModifiedBy>Usani Eteng</cp:lastModifiedBy>
  <cp:revision>1</cp:revision>
  <dcterms:created xsi:type="dcterms:W3CDTF">2026-02-14T07:27:54Z</dcterms:created>
  <dcterms:modified xsi:type="dcterms:W3CDTF">2026-02-14T15:17:36Z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